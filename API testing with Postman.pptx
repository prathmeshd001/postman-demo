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5143500" cx="9144000"/>
  <p:notesSz cx="6858000" cy="9144000"/>
  <p:embeddedFontLst>
    <p:embeddedFont>
      <p:font typeface="Roboto Mono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D23621E-6714-4A5D-A421-51854D7B58B9}">
  <a:tblStyle styleId="{ED23621E-6714-4A5D-A421-51854D7B58B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font" Target="fonts/RobotoMono-regular.fntdata"/><Relationship Id="rId14" Type="http://schemas.openxmlformats.org/officeDocument/2006/relationships/slide" Target="slides/slide8.xml"/><Relationship Id="rId17" Type="http://schemas.openxmlformats.org/officeDocument/2006/relationships/font" Target="fonts/RobotoMono-italic.fntdata"/><Relationship Id="rId16" Type="http://schemas.openxmlformats.org/officeDocument/2006/relationships/font" Target="fonts/RobotoMono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8" Type="http://schemas.openxmlformats.org/officeDocument/2006/relationships/font" Target="fonts/RobotoMono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895734315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895734315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895734315a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895734315a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895734315a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895734315a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895734315a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895734315a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895734315a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895734315a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8ee4d7777e_0_5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8ee4d7777e_0_5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8ee4d7777e_0_5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8ee4d7777e_0_5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729625" y="586600"/>
            <a:ext cx="8520600" cy="1175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API testing with Postman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729625" y="3172900"/>
            <a:ext cx="7688100" cy="177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Name: Doiphode Prathmesh Satish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Roll No: MCL2024004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Instructor Name: Dr. Gaurav Srivastava</a:t>
            </a:r>
            <a:endParaRPr sz="16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Postman tool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67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API</a:t>
            </a:r>
            <a:r>
              <a:rPr lang="en" sz="1200"/>
              <a:t>: An API (Application Programming Interface) is a set of rules that allows different software applications to communicate with each other.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/>
              <a:t>Postman</a:t>
            </a:r>
            <a:r>
              <a:rPr lang="en" sz="1200"/>
              <a:t> is a collaborative platform for testing the entire API lifecycle.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/>
              <a:t>It started as a simple REST client for sending HTTP requests but has evolved into a comprehensive tool that helps developers and testers to design, build, test, and document APIs.</a:t>
            </a:r>
            <a:endParaRPr sz="1200"/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SzPts val="1200"/>
              <a:buChar char="➢"/>
            </a:pPr>
            <a:r>
              <a:rPr lang="en" sz="1200"/>
              <a:t>It provides a </a:t>
            </a:r>
            <a:r>
              <a:rPr b="1" lang="en" sz="1200"/>
              <a:t>user-friendly interface</a:t>
            </a:r>
            <a:r>
              <a:rPr lang="en" sz="1200"/>
              <a:t> to create and send requests.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➢"/>
            </a:pPr>
            <a:r>
              <a:rPr lang="en" sz="1200"/>
              <a:t>It allows you to </a:t>
            </a:r>
            <a:r>
              <a:rPr b="1" lang="en" sz="1200"/>
              <a:t>check the responses</a:t>
            </a:r>
            <a:r>
              <a:rPr lang="en" sz="1200"/>
              <a:t> to ensure the API is working as expected.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➢"/>
            </a:pPr>
            <a:r>
              <a:rPr lang="en" sz="1200"/>
              <a:t>It's more than just a manual tool, it's a </a:t>
            </a:r>
            <a:r>
              <a:rPr b="1" lang="en" sz="1200"/>
              <a:t>complete testing and automation environment</a:t>
            </a:r>
            <a:r>
              <a:rPr lang="en" sz="1200"/>
              <a:t>.</a:t>
            </a:r>
            <a:endParaRPr sz="1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Core Features of Postman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81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➔"/>
            </a:pPr>
            <a:r>
              <a:rPr b="1" lang="en" sz="1200"/>
              <a:t>Requests:</a:t>
            </a:r>
            <a:r>
              <a:rPr lang="en" sz="1200"/>
              <a:t> Easily create and send any kind of HTTP request (GET, POST, PUT, DELETE, etc.) or other requests like gRPC, MCP, WebSocket, Socket.IO, MQTT, etc.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➔"/>
            </a:pPr>
            <a:r>
              <a:rPr b="1" lang="en" sz="1200"/>
              <a:t>Collections:</a:t>
            </a:r>
            <a:r>
              <a:rPr lang="en" sz="1200"/>
              <a:t> Group your requests into folders to organize your tests.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➔"/>
            </a:pPr>
            <a:r>
              <a:rPr b="1" lang="en" sz="1200"/>
              <a:t>Environments &amp; Variables:</a:t>
            </a:r>
            <a:r>
              <a:rPr lang="en" sz="1200"/>
              <a:t> Store and reuse common values like URLs, tokens, and IDs (e.g: {{baseUrl}}). This allows you to run the same tests against different servers (like development, staging, or production).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➔"/>
            </a:pPr>
            <a:r>
              <a:rPr b="1" lang="en" sz="1200"/>
              <a:t>Test Scripts:</a:t>
            </a:r>
            <a:r>
              <a:rPr lang="en" sz="1200"/>
              <a:t> Write test assertions in JavaScript to validate API responses. You can check status codes, response times, h</a:t>
            </a:r>
            <a:r>
              <a:rPr lang="en" sz="1200"/>
              <a:t>e</a:t>
            </a:r>
            <a:r>
              <a:rPr lang="en" sz="1200"/>
              <a:t>aders, and data within the response body.</a:t>
            </a:r>
            <a:endParaRPr sz="1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Testing Can We Do with Postman?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Postman is versatile and supports many types of API testing: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/>
              <a:t>Functional Testing:</a:t>
            </a:r>
            <a:r>
              <a:rPr lang="en" sz="1200"/>
              <a:t> Verify that the API works as expected. Are status codes correct (200 OK, 404 Not Found)? Does the response body contain the right data?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/>
              <a:t>Integration Testing:</a:t>
            </a:r>
            <a:r>
              <a:rPr lang="en" sz="1200"/>
              <a:t> Test multi-step workflows. For example: Create a user, Log in with that user, Get user details, Delete the user. Postman's "</a:t>
            </a:r>
            <a:r>
              <a:rPr b="1" lang="en" sz="1200"/>
              <a:t>data chaining</a:t>
            </a:r>
            <a:r>
              <a:rPr lang="en" sz="1200"/>
              <a:t>" (using variables from one response in the next request) is perfect for this.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/>
              <a:t>Regression Testing:</a:t>
            </a:r>
            <a:r>
              <a:rPr lang="en" sz="1200"/>
              <a:t> Run a full collection of tests after every code change to ensure existing functionality hasn't broken. This is where automation is key.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/>
              <a:t>Contract Testing:</a:t>
            </a:r>
            <a:r>
              <a:rPr lang="en" sz="1200"/>
              <a:t> Check if the API response adheres to a defined structure or "schema." Does the response have all the required fields? Are the data types correct (e.g: id is a number, name is a string)?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200"/>
              <a:t>Basic Performance</a:t>
            </a:r>
            <a:r>
              <a:rPr b="1" lang="en" sz="1200"/>
              <a:t> Checks</a:t>
            </a:r>
            <a:r>
              <a:rPr b="1" lang="en" sz="1200"/>
              <a:t>:</a:t>
            </a:r>
            <a:r>
              <a:rPr lang="en" sz="1200"/>
              <a:t> You can run simple checks like ensuring response time is below a certain threshold (e.g., &lt; 500ms).</a:t>
            </a:r>
            <a:endParaRPr sz="12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Typical Postman Workflow</a:t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A typical testing process in Postman follows these steps: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/>
              <a:t>Craft a Request:</a:t>
            </a:r>
            <a:r>
              <a:rPr lang="en" sz="1200"/>
              <a:t> Start by building a single API request and sending it to see the response.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/>
              <a:t>Write Tests: </a:t>
            </a:r>
            <a:r>
              <a:rPr lang="en" sz="1200"/>
              <a:t>Add JavaScript tests in the "Scripts" tab to validate the response.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/>
              <a:t>Group into a Collection:</a:t>
            </a:r>
            <a:r>
              <a:rPr lang="en" sz="1200"/>
              <a:t> Save the request into a collection to organize it with other related requests.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/>
              <a:t>Use Variables:</a:t>
            </a:r>
            <a:r>
              <a:rPr lang="en" sz="1200"/>
              <a:t> Replace hard-coded values (like URL or IDs) with variables from an environment file.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/>
              <a:t>Run the Collection:</a:t>
            </a:r>
            <a:r>
              <a:rPr lang="en" sz="1200"/>
              <a:t> Use the "Collection Runner" to execute all requests and their tests in sequence.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200"/>
              <a:t>Automate:</a:t>
            </a:r>
            <a:r>
              <a:rPr lang="en" sz="1200"/>
              <a:t> Export the collection and environment, and run them from the command line for automated CI/CD pipelines with tools like newman.</a:t>
            </a:r>
            <a:endParaRPr sz="12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Supported Platforms &amp; CI/CD Integration</a:t>
            </a:r>
            <a:endParaRPr/>
          </a:p>
        </p:txBody>
      </p:sp>
      <p:graphicFrame>
        <p:nvGraphicFramePr>
          <p:cNvPr id="85" name="Google Shape;85;p18"/>
          <p:cNvGraphicFramePr/>
          <p:nvPr/>
        </p:nvGraphicFramePr>
        <p:xfrm>
          <a:off x="311700" y="12281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{ED23621E-6714-4A5D-A421-51854D7B58B9}</a:tableStyleId>
              </a:tblPr>
              <a:tblGrid>
                <a:gridCol w="3269750"/>
                <a:gridCol w="5250850"/>
              </a:tblGrid>
              <a:tr h="445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2"/>
                          </a:solidFill>
                        </a:rPr>
                        <a:t>Aspect</a:t>
                      </a:r>
                      <a:endParaRPr b="1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747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2"/>
                          </a:solidFill>
                        </a:rPr>
                        <a:t>Supported Platforms</a:t>
                      </a:r>
                      <a:endParaRPr b="1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-3048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200"/>
                        <a:buChar char="●"/>
                      </a:pPr>
                      <a:r>
                        <a:rPr lang="en" sz="1200">
                          <a:solidFill>
                            <a:schemeClr val="dk2"/>
                          </a:solidFill>
                        </a:rPr>
                        <a:t>Available as a native desktop app for </a:t>
                      </a:r>
                      <a:r>
                        <a:rPr b="1" lang="en" sz="1200">
                          <a:solidFill>
                            <a:schemeClr val="dk2"/>
                          </a:solidFill>
                        </a:rPr>
                        <a:t>Windows, macOS, and Linux</a:t>
                      </a:r>
                      <a:r>
                        <a:rPr lang="en" sz="1200">
                          <a:solidFill>
                            <a:schemeClr val="dk2"/>
                          </a:solidFill>
                        </a:rPr>
                        <a:t>.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  <a:p>
                      <a:pPr indent="-3048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200"/>
                        <a:buChar char="●"/>
                      </a:pPr>
                      <a:r>
                        <a:rPr lang="en" sz="1200">
                          <a:solidFill>
                            <a:schemeClr val="dk2"/>
                          </a:solidFill>
                        </a:rPr>
                        <a:t>Also accessible through a </a:t>
                      </a:r>
                      <a:r>
                        <a:rPr b="1" lang="en" sz="1200">
                          <a:solidFill>
                            <a:schemeClr val="dk2"/>
                          </a:solidFill>
                        </a:rPr>
                        <a:t>Web Browser</a:t>
                      </a:r>
                      <a:r>
                        <a:rPr lang="en" sz="1200">
                          <a:solidFill>
                            <a:schemeClr val="dk2"/>
                          </a:solidFill>
                        </a:rPr>
                        <a:t>.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747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2"/>
                          </a:solidFill>
                        </a:rPr>
                        <a:t>Scripting</a:t>
                      </a:r>
                      <a:endParaRPr b="1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-304800" lvl="0" marL="45720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200"/>
                        <a:buChar char="●"/>
                      </a:pPr>
                      <a:r>
                        <a:rPr lang="en" sz="1200">
                          <a:solidFill>
                            <a:schemeClr val="dk2"/>
                          </a:solidFill>
                        </a:rPr>
                        <a:t>All scripting is done in </a:t>
                      </a:r>
                      <a:r>
                        <a:rPr b="1" lang="en" sz="1200">
                          <a:solidFill>
                            <a:schemeClr val="dk2"/>
                          </a:solidFill>
                        </a:rPr>
                        <a:t>JavaScript</a:t>
                      </a:r>
                      <a:r>
                        <a:rPr lang="en" sz="1200">
                          <a:solidFill>
                            <a:schemeClr val="dk2"/>
                          </a:solidFill>
                        </a:rPr>
                        <a:t>.  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  <a:p>
                      <a:pPr indent="-3048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200"/>
                        <a:buChar char="●"/>
                      </a:pPr>
                      <a:r>
                        <a:rPr lang="en" sz="1200">
                          <a:solidFill>
                            <a:schemeClr val="dk2"/>
                          </a:solidFill>
                        </a:rPr>
                        <a:t>Uses the Postman sandbox </a:t>
                      </a:r>
                      <a:r>
                        <a:rPr lang="en" sz="1200">
                          <a:solidFill>
                            <a:schemeClr val="dk2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pm.*</a:t>
                      </a:r>
                      <a:r>
                        <a:rPr lang="en" sz="1200">
                          <a:solidFill>
                            <a:schemeClr val="dk2"/>
                          </a:solidFill>
                        </a:rPr>
                        <a:t> API.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747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2"/>
                          </a:solidFill>
                        </a:rPr>
                        <a:t>CI/CD Integration</a:t>
                      </a:r>
                      <a:endParaRPr b="1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-304800" lvl="0" marL="45720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200"/>
                        <a:buChar char="●"/>
                      </a:pPr>
                      <a:r>
                        <a:rPr lang="en" sz="1200">
                          <a:solidFill>
                            <a:schemeClr val="dk2"/>
                          </a:solidFill>
                        </a:rPr>
                        <a:t>The key is tools like </a:t>
                      </a:r>
                      <a:r>
                        <a:rPr b="1" lang="en" sz="1200">
                          <a:solidFill>
                            <a:schemeClr val="dk2"/>
                          </a:solidFill>
                        </a:rPr>
                        <a:t>Newman</a:t>
                      </a:r>
                      <a:r>
                        <a:rPr lang="en" sz="1200">
                          <a:solidFill>
                            <a:schemeClr val="dk2"/>
                          </a:solidFill>
                        </a:rPr>
                        <a:t>, the command-line runner for Postman. 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  <a:p>
                      <a:pPr indent="-3048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200"/>
                        <a:buChar char="●"/>
                      </a:pPr>
                      <a:r>
                        <a:rPr lang="en" sz="1200">
                          <a:solidFill>
                            <a:schemeClr val="dk2"/>
                          </a:solidFill>
                        </a:rPr>
                        <a:t>Run tests in tools like </a:t>
                      </a:r>
                      <a:r>
                        <a:rPr b="1" lang="en" sz="1200">
                          <a:solidFill>
                            <a:schemeClr val="dk2"/>
                          </a:solidFill>
                        </a:rPr>
                        <a:t>GitHub Actions</a:t>
                      </a:r>
                      <a:r>
                        <a:rPr lang="en" sz="1200">
                          <a:solidFill>
                            <a:schemeClr val="dk2"/>
                          </a:solidFill>
                        </a:rPr>
                        <a:t>, </a:t>
                      </a:r>
                      <a:r>
                        <a:rPr b="1" lang="en" sz="1200">
                          <a:solidFill>
                            <a:schemeClr val="dk2"/>
                          </a:solidFill>
                        </a:rPr>
                        <a:t>Jenkins, GitLab CI, </a:t>
                      </a:r>
                      <a:r>
                        <a:rPr lang="en" sz="1200">
                          <a:solidFill>
                            <a:schemeClr val="dk2"/>
                          </a:solidFill>
                        </a:rPr>
                        <a:t>etc.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